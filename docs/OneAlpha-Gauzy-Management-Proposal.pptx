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D9D0"/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1052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284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ONEALPHA REBUILD  /  MANAGEMENT DISCUSSION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515600" y="65105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284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SEP 2026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548640"/>
            <a:ext cx="4754880" cy="402336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75520" y="3383280"/>
            <a:ext cx="3108960" cy="3108960"/>
          </a:xfrm>
          <a:prstGeom prst="ellipse">
            <a:avLst/>
          </a:prstGeom>
          <a:solidFill>
            <a:srgbClr val="14D9D0">
              <a:alpha val="18000"/>
            </a:srgbClr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4480560"/>
            <a:ext cx="2194560" cy="2194560"/>
          </a:xfrm>
          <a:prstGeom prst="ellipse">
            <a:avLst/>
          </a:prstGeom>
          <a:solidFill>
            <a:srgbClr val="F472B6">
              <a:alpha val="12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188720"/>
            <a:ext cx="5120640" cy="4114800"/>
          </a:xfrm>
          <a:prstGeom prst="line">
            <a:avLst/>
          </a:prstGeom>
          <a:noFill/>
          <a:ln w="1524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059168" y="1188720"/>
            <a:ext cx="4142232" cy="4114800"/>
          </a:xfrm>
          <a:prstGeom prst="line">
            <a:avLst/>
          </a:prstGeom>
          <a:noFill/>
          <a:ln w="1524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7717536" y="1188720"/>
            <a:ext cx="3163824" cy="4114800"/>
          </a:xfrm>
          <a:prstGeom prst="line">
            <a:avLst/>
          </a:prstGeom>
          <a:noFill/>
          <a:ln w="1524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375904" y="1188720"/>
            <a:ext cx="2185416" cy="4114800"/>
          </a:xfrm>
          <a:prstGeom prst="line">
            <a:avLst/>
          </a:prstGeom>
          <a:noFill/>
          <a:ln w="1524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034272" y="1188720"/>
            <a:ext cx="1207008" cy="4114800"/>
          </a:xfrm>
          <a:prstGeom prst="line">
            <a:avLst/>
          </a:prstGeom>
          <a:noFill/>
          <a:ln w="1524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9692640" y="1188720"/>
            <a:ext cx="228600" cy="4114800"/>
          </a:xfrm>
          <a:prstGeom prst="line">
            <a:avLst/>
          </a:prstGeom>
          <a:noFill/>
          <a:ln w="1524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351008" y="1188720"/>
            <a:ext cx="-749808" cy="4114800"/>
          </a:xfrm>
          <a:prstGeom prst="line">
            <a:avLst/>
          </a:prstGeom>
          <a:noFill/>
          <a:ln w="1524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6675120" y="18288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1828800"/>
            <a:ext cx="91440" cy="91440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8288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1828800"/>
            <a:ext cx="91440" cy="91440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2720" y="18288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75120" y="4114800"/>
            <a:ext cx="91440" cy="91440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41148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4114800"/>
            <a:ext cx="91440" cy="91440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4114800"/>
            <a:ext cx="91440" cy="914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32720" y="4114800"/>
            <a:ext cx="91440" cy="91440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6858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ONEALPHA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12344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the operating core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58368" y="20299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+ Audit Platform + supporting modules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58368" y="2761488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 Gauzy as an architecture reference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5074920"/>
            <a:ext cx="4480560" cy="566928"/>
          </a:xfrm>
          <a:prstGeom prst="roundRect">
            <a:avLst>
              <a:gd name="adj" fmla="val 22581"/>
            </a:avLst>
          </a:prstGeom>
          <a:solidFill>
            <a:srgbClr val="12243A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5239512"/>
            <a:ext cx="4069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proposal  |  13 September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" y="614476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focus: approve the discovery and foundation phase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Rebuild OneAlpha around one trusted business flow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stronger platform foundation should make CRM and Audit work together without diluting CBQA-specific controls.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657600" cy="3291840"/>
          </a:xfrm>
          <a:prstGeom prst="roundRect">
            <a:avLst>
              <a:gd name="adj" fmla="val 3889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0392" y="2816352"/>
            <a:ext cx="73152" cy="731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7432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and Audit enhancements evolve in parallel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" y="3410712"/>
            <a:ext cx="73152" cy="731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3337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platform concerns repeat across modules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50392" y="4005072"/>
            <a:ext cx="73152" cy="731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4984" y="39319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rules can drift between FE and BE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" y="4599432"/>
            <a:ext cx="73152" cy="731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" y="45262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and UAT effort stays expensive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1965960"/>
            <a:ext cx="3657600" cy="3291840"/>
          </a:xfrm>
          <a:prstGeom prst="roundRect">
            <a:avLst>
              <a:gd name="adj" fmla="val 3889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1312" y="22677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2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11312" y="2816352"/>
            <a:ext cx="73152" cy="731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75904" y="27432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becomes the upstream source for audit 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11312" y="3410712"/>
            <a:ext cx="73152" cy="731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333756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owns workflow state and permissions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11312" y="4005072"/>
            <a:ext cx="73152" cy="731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75904" y="393192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platform services reduce duplication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11312" y="4599432"/>
            <a:ext cx="73152" cy="731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45262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Agent-harness delivers in governed increments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80560" y="3566160"/>
            <a:ext cx="3246120" cy="0"/>
          </a:xfrm>
          <a:prstGeom prst="line">
            <a:avLst/>
          </a:prstGeom>
          <a:noFill/>
          <a:ln w="25400">
            <a:solidFill>
              <a:srgbClr val="14D9D0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6016752" y="3456432"/>
            <a:ext cx="219456" cy="219456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384048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" y="614476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faster change with better traceability, control, and reuse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GAUZY MATTERS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Gauzy proves the generic platform layer is buildable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Its value is in the patterns and the operating model, not in copying its domain implementation.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313432"/>
            <a:ext cx="201168" cy="201168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1872" y="2258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/ CRM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61872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records, proposals, contacts, billing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205740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313432"/>
            <a:ext cx="201168" cy="20116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39712" y="2258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/ ATS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39712" y="26243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People, onboarding, qualifications, hiring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913632"/>
            <a:ext cx="201168" cy="20116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872" y="3858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 / Time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61872" y="4224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Projects, tasks, time, productivity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5074920" cy="1170432"/>
          </a:xfrm>
          <a:prstGeom prst="roundRect">
            <a:avLst>
              <a:gd name="adj" fmla="val 10938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73952" y="3913632"/>
            <a:ext cx="201168" cy="20116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39712" y="38587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39712" y="42245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Tenancy, APIs, plugins, dashboards, MCP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5349240"/>
            <a:ext cx="10652760" cy="457200"/>
          </a:xfrm>
          <a:prstGeom prst="roundRect">
            <a:avLst>
              <a:gd name="adj" fmla="val 28000"/>
            </a:avLst>
          </a:prstGeom>
          <a:solidFill>
            <a:srgbClr val="12243A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5468112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lens: adopt the platform mechanics, adapt the business semantics, reject anything that conflicts with CBQA policy.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5216" y="614476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Gauzy documentation: docs.gauzy.co | Repository: github.com/ever-co/ever-gauzy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COMPARISON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paths. One is the most balanced.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choice should optimize business fit, delivery risk, and long-term ownership.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337560" cy="3246120"/>
          </a:xfrm>
          <a:prstGeom prst="roundRect">
            <a:avLst>
              <a:gd name="adj" fmla="val 3944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67712"/>
            <a:ext cx="2148840" cy="292608"/>
          </a:xfrm>
          <a:prstGeom prst="roundRect">
            <a:avLst>
              <a:gd name="adj" fmla="val 37500"/>
            </a:avLst>
          </a:prstGeom>
          <a:solidFill>
            <a:srgbClr val="FF6B7A">
              <a:alpha val="25000"/>
            </a:srgbClr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28600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 Copy Gauzy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generic start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3493008"/>
            <a:ext cx="2834640" cy="0"/>
          </a:xfrm>
          <a:prstGeom prst="line">
            <a:avLst/>
          </a:prstGeom>
          <a:noFill/>
          <a:ln w="127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86868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fit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3730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risk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41239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457200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CBQA fit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48554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refactor + license risk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2011680"/>
            <a:ext cx="3337560" cy="3246120"/>
          </a:xfrm>
          <a:prstGeom prst="roundRect">
            <a:avLst>
              <a:gd name="adj" fmla="val 3944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2267712"/>
            <a:ext cx="2148840" cy="292608"/>
          </a:xfrm>
          <a:prstGeom prst="roundRect">
            <a:avLst>
              <a:gd name="adj" fmla="val 37500"/>
            </a:avLst>
          </a:prstGeom>
          <a:solidFill>
            <a:srgbClr val="FFB454">
              <a:alpha val="25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6592" y="228600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 Keep current only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6344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transition risk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663440" y="3493008"/>
            <a:ext cx="2834640" cy="0"/>
          </a:xfrm>
          <a:prstGeom prst="line">
            <a:avLst/>
          </a:prstGeom>
          <a:noFill/>
          <a:ln w="127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466344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fit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46520" y="3730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risk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41239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63440" y="457200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Slower platform improvement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48554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cross-cutting work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0" y="2011680"/>
            <a:ext cx="3337560" cy="3246120"/>
          </a:xfrm>
          <a:prstGeom prst="roundRect">
            <a:avLst>
              <a:gd name="adj" fmla="val 3944"/>
            </a:avLst>
          </a:prstGeom>
          <a:solidFill>
            <a:srgbClr val="12352F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58200" y="2267712"/>
            <a:ext cx="2148840" cy="292608"/>
          </a:xfrm>
          <a:prstGeom prst="roundRect">
            <a:avLst>
              <a:gd name="adj" fmla="val 37500"/>
            </a:avLst>
          </a:prstGeom>
          <a:solidFill>
            <a:srgbClr val="62E6A8">
              <a:alpha val="25000"/>
            </a:srgbClr>
          </a:solidFill>
          <a:ln w="12700">
            <a:solidFill>
              <a:srgbClr val="62E6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31352" y="2286000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 Reference + rebuild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28346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fit stays high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458200" y="3493008"/>
            <a:ext cx="2834640" cy="0"/>
          </a:xfrm>
          <a:prstGeom prst="line">
            <a:avLst/>
          </a:prstGeom>
          <a:noFill/>
          <a:ln w="127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8458200" y="376732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fit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41280" y="37307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2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58200" y="41605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risk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41280" y="412394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2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58200" y="4572000"/>
            <a:ext cx="2788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gets stronger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458200" y="48554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disciplined phases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5216" y="614476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Suggestion: approve Path C and make discovery the first funding gate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OPERATING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OneAlpha becomes a modular platform with CBQA domain ownership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keeps generic platform services reusable while the Audit Platform owns its rules.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2057400" cy="822960"/>
          </a:xfrm>
          <a:prstGeom prst="roundRect">
            <a:avLst>
              <a:gd name="adj" fmla="val 15556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59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Tenant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103120"/>
            <a:ext cx="2057400" cy="822960"/>
          </a:xfrm>
          <a:prstGeom prst="roundRect">
            <a:avLst>
              <a:gd name="adj" fmla="val 15556"/>
            </a:avLst>
          </a:prstGeom>
          <a:solidFill>
            <a:srgbClr val="14D9D0"/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2359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&amp; Commercial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103120"/>
            <a:ext cx="2057400" cy="822960"/>
          </a:xfrm>
          <a:prstGeom prst="roundRect">
            <a:avLst>
              <a:gd name="adj" fmla="val 15556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235915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 / Project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0" y="4069080"/>
            <a:ext cx="2057400" cy="822960"/>
          </a:xfrm>
          <a:prstGeom prst="roundRect">
            <a:avLst>
              <a:gd name="adj" fmla="val 15556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43251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Platform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4069080"/>
            <a:ext cx="2057400" cy="822960"/>
          </a:xfrm>
          <a:prstGeom prst="roundRect">
            <a:avLst>
              <a:gd name="adj" fmla="val 15556"/>
            </a:avLst>
          </a:prstGeom>
          <a:solidFill>
            <a:srgbClr val="62E6A8"/>
          </a:solidFill>
          <a:ln w="12700">
            <a:solidFill>
              <a:srgbClr val="62E6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432511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 / Reports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971800" y="2514600"/>
            <a:ext cx="685800" cy="0"/>
          </a:xfrm>
          <a:prstGeom prst="line">
            <a:avLst/>
          </a:prstGeom>
          <a:noFill/>
          <a:ln w="25400">
            <a:solidFill>
              <a:srgbClr val="14D9D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715000" y="2514600"/>
            <a:ext cx="685800" cy="0"/>
          </a:xfrm>
          <a:prstGeom prst="line">
            <a:avLst/>
          </a:prstGeom>
          <a:noFill/>
          <a:ln w="25400">
            <a:solidFill>
              <a:srgbClr val="14D9D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663440" y="2926080"/>
            <a:ext cx="0" cy="1143000"/>
          </a:xfrm>
          <a:prstGeom prst="line">
            <a:avLst/>
          </a:prstGeom>
          <a:noFill/>
          <a:ln w="25400">
            <a:solidFill>
              <a:srgbClr val="F472B6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406640" y="2926080"/>
            <a:ext cx="0" cy="1143000"/>
          </a:xfrm>
          <a:prstGeom prst="line">
            <a:avLst/>
          </a:prstGeom>
          <a:noFill/>
          <a:ln w="25400">
            <a:solidFill>
              <a:srgbClr val="62E6A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5715000" y="4480560"/>
            <a:ext cx="685800" cy="0"/>
          </a:xfrm>
          <a:prstGeom prst="line">
            <a:avLst/>
          </a:prstGeom>
          <a:noFill/>
          <a:ln w="25400">
            <a:solidFill>
              <a:srgbClr val="62E6A8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77240" y="5349240"/>
            <a:ext cx="2560320" cy="530352"/>
          </a:xfrm>
          <a:prstGeom prst="roundRect">
            <a:avLst>
              <a:gd name="adj" fmla="val 24138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5138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services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11880" y="5449824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14D9D0">
              <a:alpha val="25000"/>
            </a:srgbClr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546811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86400" y="5449824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59552" y="546811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log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360920" y="5449824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14D9D0">
              <a:alpha val="25000"/>
            </a:srgbClr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34072" y="546811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235440" y="5449824"/>
            <a:ext cx="1417320" cy="292608"/>
          </a:xfrm>
          <a:prstGeom prst="roundRect">
            <a:avLst>
              <a:gd name="adj" fmla="val 37500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08592" y="5468112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5216" y="614476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modular monolith first, service extraction only when justified by scale or ownership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VALUE CHAIN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journey from sale to certificate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rebuild succeeds when the handoff between commercial and audit teams becomes predictable.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475488" cy="475488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2128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99032" y="21214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/ Sales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99032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trigger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31920" y="2350008"/>
            <a:ext cx="411480" cy="0"/>
          </a:xfrm>
          <a:prstGeom prst="line">
            <a:avLst/>
          </a:prstGeom>
          <a:noFill/>
          <a:ln w="254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4434840" y="2103120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2128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48072" y="21214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48072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trigger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80960" y="2350008"/>
            <a:ext cx="411480" cy="0"/>
          </a:xfrm>
          <a:prstGeom prst="line">
            <a:avLst/>
          </a:prstGeom>
          <a:noFill/>
          <a:ln w="254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8183880" y="2103120"/>
            <a:ext cx="475488" cy="47548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21284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97112" y="212140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Date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97112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trigger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3977640"/>
            <a:ext cx="475488" cy="47548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873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99032" y="399592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 + Schedule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99032" y="4325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delivery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31920" y="4224528"/>
            <a:ext cx="411480" cy="0"/>
          </a:xfrm>
          <a:prstGeom prst="line">
            <a:avLst/>
          </a:prstGeom>
          <a:noFill/>
          <a:ln w="254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4434840" y="3977640"/>
            <a:ext cx="475488" cy="475488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0873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48072" y="399592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+ TR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48072" y="4325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delivery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680960" y="4224528"/>
            <a:ext cx="411480" cy="0"/>
          </a:xfrm>
          <a:prstGeom prst="line">
            <a:avLst/>
          </a:prstGeom>
          <a:noFill/>
          <a:ln w="254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8183880" y="3977640"/>
            <a:ext cx="475488" cy="475488"/>
          </a:xfrm>
          <a:prstGeom prst="ellipse">
            <a:avLst/>
          </a:prstGeom>
          <a:solidFill>
            <a:srgbClr val="62E6A8"/>
          </a:solidFill>
          <a:ln w="12700">
            <a:solidFill>
              <a:srgbClr val="62E6A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408736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897112" y="399592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+ Issuance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97112" y="43251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delivery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13232" y="5715000"/>
            <a:ext cx="10652760" cy="347472"/>
          </a:xfrm>
          <a:prstGeom prst="roundRect">
            <a:avLst>
              <a:gd name="adj" fmla="val 36842"/>
            </a:avLst>
          </a:prstGeom>
          <a:solidFill>
            <a:srgbClr val="12243A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797296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Backend-driven stepper  |  active stage editable  |  completed stage read-only  |  every transition auditable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BOUNDARY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borrow from Gauzy and what stays uniquely OneAlpha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boundary prevents the rebuild from becoming a generic ERP project.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AREA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337560" y="19202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17720" y="1920240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ONEALPHA TRANSLATION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212848"/>
            <a:ext cx="10424160" cy="0"/>
          </a:xfrm>
          <a:prstGeom prst="line">
            <a:avLst/>
          </a:prstGeom>
          <a:noFill/>
          <a:ln w="127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31520" y="242316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/ permission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441448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62E6A8">
              <a:alpha val="25000"/>
            </a:srgbClr>
          </a:solidFill>
          <a:ln w="12700">
            <a:solidFill>
              <a:srgbClr val="62E6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2459736"/>
            <a:ext cx="722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617720" y="2423160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Tenant, Keycloak, tenant-scoped policies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10424160" cy="0"/>
          </a:xfrm>
          <a:prstGeom prst="line">
            <a:avLst/>
          </a:prstGeom>
          <a:noFill/>
          <a:ln w="889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731520" y="3081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/ proposals / projects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3099816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62E6A8">
              <a:alpha val="25000"/>
            </a:srgbClr>
          </a:solidFill>
          <a:ln w="12700">
            <a:solidFill>
              <a:srgbClr val="62E6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10712" y="3118104"/>
            <a:ext cx="722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17720" y="3081528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CBQA proposal, scope, methodology, audit-date rules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584448"/>
            <a:ext cx="10424160" cy="0"/>
          </a:xfrm>
          <a:prstGeom prst="line">
            <a:avLst/>
          </a:prstGeom>
          <a:noFill/>
          <a:ln w="889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731520" y="373989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Generic HR / time / inventory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37560" y="3758184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FB454">
              <a:alpha val="25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10712" y="3776472"/>
            <a:ext cx="722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17720" y="3739896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only when a clear OneAlpha business case exists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242816"/>
            <a:ext cx="10424160" cy="0"/>
          </a:xfrm>
          <a:prstGeom prst="line">
            <a:avLst/>
          </a:prstGeom>
          <a:noFill/>
          <a:ln w="889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731520" y="439826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workflow / certificate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4416552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F472B6">
              <a:alpha val="25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4434840"/>
            <a:ext cx="722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72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17720" y="4398264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ISO, ISCC, LVV, LATIK, Transfer Audit rules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901184"/>
            <a:ext cx="10424160" cy="0"/>
          </a:xfrm>
          <a:prstGeom prst="line">
            <a:avLst/>
          </a:prstGeom>
          <a:noFill/>
          <a:ln w="889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731520" y="50566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Plugins / MCP / integrations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37560" y="5074920"/>
            <a:ext cx="868680" cy="292608"/>
          </a:xfrm>
          <a:prstGeom prst="roundRect">
            <a:avLst>
              <a:gd name="adj" fmla="val 37500"/>
            </a:avLst>
          </a:prstGeom>
          <a:solidFill>
            <a:srgbClr val="14D9D0">
              <a:alpha val="25000"/>
            </a:srgbClr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0712" y="5093208"/>
            <a:ext cx="7223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17720" y="5056632"/>
            <a:ext cx="6172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by default, allowlisted mutations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5559552"/>
            <a:ext cx="10424160" cy="0"/>
          </a:xfrm>
          <a:prstGeom prst="line">
            <a:avLst/>
          </a:prstGeom>
          <a:noFill/>
          <a:ln w="889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largest risks are controllable, but only with gates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phased rebuild reduces the blast radius and keeps business decisions visible.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993392"/>
            <a:ext cx="10698480" cy="438912"/>
          </a:xfrm>
          <a:prstGeom prst="roundRect">
            <a:avLst>
              <a:gd name="adj" fmla="val 29167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explosion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749040" y="2066544"/>
            <a:ext cx="658368" cy="292608"/>
          </a:xfrm>
          <a:prstGeom prst="roundRect">
            <a:avLst>
              <a:gd name="adj" fmla="val 37500"/>
            </a:avLst>
          </a:prstGeom>
          <a:solidFill>
            <a:srgbClr val="FF6B7A">
              <a:alpha val="25000"/>
            </a:srgbClr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22192" y="208483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800600" y="210312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capability map; phase generic 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0698480" cy="438912"/>
          </a:xfrm>
          <a:prstGeom prst="roundRect">
            <a:avLst>
              <a:gd name="adj" fmla="val 29167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157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 / code reuse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2679192"/>
            <a:ext cx="658368" cy="292608"/>
          </a:xfrm>
          <a:prstGeom prst="roundRect">
            <a:avLst>
              <a:gd name="adj" fmla="val 37500"/>
            </a:avLst>
          </a:prstGeom>
          <a:solidFill>
            <a:srgbClr val="FF6B7A">
              <a:alpha val="25000"/>
            </a:srgbClr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2697480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00600" y="2715768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gate before source/package reuse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218688"/>
            <a:ext cx="10698480" cy="438912"/>
          </a:xfrm>
          <a:prstGeom prst="roundRect">
            <a:avLst>
              <a:gd name="adj" fmla="val 29167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328416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regression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49040" y="3291840"/>
            <a:ext cx="658368" cy="292608"/>
          </a:xfrm>
          <a:prstGeom prst="roundRect">
            <a:avLst>
              <a:gd name="adj" fmla="val 37500"/>
            </a:avLst>
          </a:prstGeom>
          <a:solidFill>
            <a:srgbClr val="FFB454">
              <a:alpha val="25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3310128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00600" y="3328416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machine + C1–C9 E2E 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831336"/>
            <a:ext cx="10698480" cy="438912"/>
          </a:xfrm>
          <a:prstGeom prst="roundRect">
            <a:avLst>
              <a:gd name="adj" fmla="val 29167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941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integrity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749040" y="3904488"/>
            <a:ext cx="658368" cy="292608"/>
          </a:xfrm>
          <a:prstGeom prst="roundRect">
            <a:avLst>
              <a:gd name="adj" fmla="val 37500"/>
            </a:avLst>
          </a:prstGeom>
          <a:solidFill>
            <a:srgbClr val="FFB454">
              <a:alpha val="25000"/>
            </a:srgbClr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22192" y="3922776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00600" y="394106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Dry-run, mapping table, reconciliation, rollback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443984"/>
            <a:ext cx="10698480" cy="438912"/>
          </a:xfrm>
          <a:prstGeom prst="roundRect">
            <a:avLst>
              <a:gd name="adj" fmla="val 29167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55371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overreach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749040" y="4517136"/>
            <a:ext cx="658368" cy="292608"/>
          </a:xfrm>
          <a:prstGeom prst="roundRect">
            <a:avLst>
              <a:gd name="adj" fmla="val 37500"/>
            </a:avLst>
          </a:prstGeom>
          <a:solidFill>
            <a:srgbClr val="14D9D0">
              <a:alpha val="25000"/>
            </a:srgbClr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4535424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00600" y="455371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Worktrees, contracts, approvals, protected paths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5056632"/>
            <a:ext cx="10698480" cy="438912"/>
          </a:xfrm>
          <a:prstGeom prst="roundRect">
            <a:avLst>
              <a:gd name="adj" fmla="val 29167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51663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Infrastructure weight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749040" y="5129784"/>
            <a:ext cx="658368" cy="292608"/>
          </a:xfrm>
          <a:prstGeom prst="roundRect">
            <a:avLst>
              <a:gd name="adj" fmla="val 37500"/>
            </a:avLst>
          </a:prstGeom>
          <a:solidFill>
            <a:srgbClr val="62E6A8">
              <a:alpha val="25000"/>
            </a:srgbClr>
          </a:solidFill>
          <a:ln w="12700">
            <a:solidFill>
              <a:srgbClr val="62E6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22192" y="514807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2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00600" y="516636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minimal; add Redis/search/analytics by need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" y="614476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posture: make uncertainty explicit before implementation starts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AGENT-HARNESS DELIVERY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accelerate execution when the work is partitioned and reviewable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harness coordinates specialist agents. Humans retain architectural, migration, and production authority.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140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907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207008" y="2505456"/>
            <a:ext cx="941832" cy="0"/>
          </a:xfrm>
          <a:prstGeom prst="line">
            <a:avLst/>
          </a:prstGeom>
          <a:noFill/>
          <a:ln w="2032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267712" y="2240280"/>
            <a:ext cx="530352" cy="5303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24140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30552" y="2907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34640" y="2505456"/>
            <a:ext cx="941832" cy="0"/>
          </a:xfrm>
          <a:prstGeom prst="line">
            <a:avLst/>
          </a:prstGeom>
          <a:noFill/>
          <a:ln w="2032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895344" y="2240280"/>
            <a:ext cx="530352" cy="53035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344" y="24140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58184" y="2907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62272" y="2505456"/>
            <a:ext cx="941832" cy="0"/>
          </a:xfrm>
          <a:prstGeom prst="line">
            <a:avLst/>
          </a:prstGeom>
          <a:noFill/>
          <a:ln w="2032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5522976" y="2240280"/>
            <a:ext cx="530352" cy="530352"/>
          </a:xfrm>
          <a:prstGeom prst="ellipse">
            <a:avLst/>
          </a:prstGeom>
          <a:solidFill>
            <a:srgbClr val="62E6A8"/>
          </a:solidFill>
          <a:ln w="12700">
            <a:solidFill>
              <a:srgbClr val="62E6A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22976" y="24140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85816" y="2907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89904" y="2505456"/>
            <a:ext cx="941832" cy="0"/>
          </a:xfrm>
          <a:prstGeom prst="line">
            <a:avLst/>
          </a:prstGeom>
          <a:noFill/>
          <a:ln w="2032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150608" y="2240280"/>
            <a:ext cx="530352" cy="53035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50608" y="24140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13448" y="2907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17536" y="2505456"/>
            <a:ext cx="941832" cy="0"/>
          </a:xfrm>
          <a:prstGeom prst="line">
            <a:avLst/>
          </a:prstGeom>
          <a:noFill/>
          <a:ln w="2032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778240" y="2240280"/>
            <a:ext cx="530352" cy="53035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24140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41080" y="2907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DevOps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45168" y="2505456"/>
            <a:ext cx="941832" cy="0"/>
          </a:xfrm>
          <a:prstGeom prst="line">
            <a:avLst/>
          </a:prstGeom>
          <a:noFill/>
          <a:ln w="2032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405872" y="2240280"/>
            <a:ext cx="530352" cy="5303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05872" y="24140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268712" y="29077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" y="3977640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7824" y="4187952"/>
            <a:ext cx="438912" cy="292608"/>
          </a:xfrm>
          <a:prstGeom prst="roundRect">
            <a:avLst>
              <a:gd name="adj" fmla="val 37500"/>
            </a:avLst>
          </a:prstGeom>
          <a:solidFill>
            <a:srgbClr val="14D9D0">
              <a:alpha val="25000"/>
            </a:srgbClr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0976" y="42062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77824" y="4617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discovery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907792" y="3977640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72384" y="4187952"/>
            <a:ext cx="438912" cy="292608"/>
          </a:xfrm>
          <a:prstGeom prst="roundRect">
            <a:avLst>
              <a:gd name="adj" fmla="val 37500"/>
            </a:avLst>
          </a:prstGeom>
          <a:solidFill>
            <a:srgbClr val="14D9D0">
              <a:alpha val="25000"/>
            </a:srgbClr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45536" y="42062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072384" y="4617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Non-breaking code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02352" y="3977640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66944" y="4187952"/>
            <a:ext cx="438912" cy="292608"/>
          </a:xfrm>
          <a:prstGeom prst="roundRect">
            <a:avLst>
              <a:gd name="adj" fmla="val 37500"/>
            </a:avLst>
          </a:prstGeom>
          <a:solidFill>
            <a:srgbClr val="14D9D0">
              <a:alpha val="25000"/>
            </a:srgbClr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40096" y="42062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266944" y="4617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schema / workflow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96912" y="3977640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61504" y="4187952"/>
            <a:ext cx="438912" cy="292608"/>
          </a:xfrm>
          <a:prstGeom prst="roundRect">
            <a:avLst>
              <a:gd name="adj" fmla="val 37500"/>
            </a:avLst>
          </a:prstGeom>
          <a:solidFill>
            <a:srgbClr val="14D9D0">
              <a:alpha val="25000"/>
            </a:srgbClr>
          </a:solidFill>
          <a:ln w="12700">
            <a:solidFill>
              <a:srgbClr val="14D9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34656" y="42062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A3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61504" y="4617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/ staging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491472" y="3977640"/>
            <a:ext cx="1874520" cy="914400"/>
          </a:xfrm>
          <a:prstGeom prst="roundRect">
            <a:avLst>
              <a:gd name="adj" fmla="val 14000"/>
            </a:avLst>
          </a:prstGeom>
          <a:solidFill>
            <a:srgbClr val="3A1C2B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656064" y="4187952"/>
            <a:ext cx="438912" cy="292608"/>
          </a:xfrm>
          <a:prstGeom prst="roundRect">
            <a:avLst>
              <a:gd name="adj" fmla="val 37500"/>
            </a:avLst>
          </a:prstGeom>
          <a:solidFill>
            <a:srgbClr val="FF6B7A">
              <a:alpha val="25000"/>
            </a:srgbClr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29216" y="4206240"/>
            <a:ext cx="292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656064" y="46177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/ protected merge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5216" y="6144768"/>
            <a:ext cx="10515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task returns changed files, tests, risks, evidence, and follow-up work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the rebuild around risk, not around a wish list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milestone produces something management can inspect and approve.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530352" cy="5303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" y="3310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Repos, workflows, data, Gauzy patterns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43584" y="2505456"/>
            <a:ext cx="1207008" cy="0"/>
          </a:xfrm>
          <a:prstGeom prst="line">
            <a:avLst/>
          </a:prstGeom>
          <a:noFill/>
          <a:ln w="254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532888" y="2240280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32888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6712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38528" y="3310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tenancy, permissions, audit log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18104" y="2505456"/>
            <a:ext cx="1207008" cy="0"/>
          </a:xfrm>
          <a:prstGeom prst="line">
            <a:avLst/>
          </a:prstGeom>
          <a:noFill/>
          <a:ln w="254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407408" y="2240280"/>
            <a:ext cx="530352" cy="530352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4164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13048" y="3310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Proposal, methodology, project, audit date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992624" y="2505456"/>
            <a:ext cx="1207008" cy="0"/>
          </a:xfrm>
          <a:prstGeom prst="line">
            <a:avLst/>
          </a:prstGeom>
          <a:noFill/>
          <a:ln w="254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6281928" y="2240280"/>
            <a:ext cx="530352" cy="53035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1616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core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87568" y="3310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AR, scheduling, audit, TR, decision, issuance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67144" y="2505456"/>
            <a:ext cx="1207008" cy="0"/>
          </a:xfrm>
          <a:prstGeom prst="line">
            <a:avLst/>
          </a:prstGeom>
          <a:noFill/>
          <a:ln w="254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156448" y="2240280"/>
            <a:ext cx="530352" cy="530352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6448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9068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62088" y="3310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ISO, ISCC, LVV, LATIK, transfer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741664" y="2505456"/>
            <a:ext cx="1207008" cy="0"/>
          </a:xfrm>
          <a:prstGeom prst="line">
            <a:avLst/>
          </a:prstGeom>
          <a:noFill/>
          <a:ln w="25400">
            <a:solidFill>
              <a:srgbClr val="27415D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0030968" y="2240280"/>
            <a:ext cx="530352" cy="530352"/>
          </a:xfrm>
          <a:prstGeom prst="ellipse">
            <a:avLst/>
          </a:prstGeom>
          <a:solidFill>
            <a:srgbClr val="62E6A8"/>
          </a:solidFill>
          <a:ln w="12700">
            <a:solidFill>
              <a:srgbClr val="62E6A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30968" y="240487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665208" y="29260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Rollout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36608" y="331012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Documents, dashboards, migration, UAT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7240" y="4983480"/>
            <a:ext cx="10515600" cy="594360"/>
          </a:xfrm>
          <a:prstGeom prst="roundRect">
            <a:avLst>
              <a:gd name="adj" fmla="val 21538"/>
            </a:avLst>
          </a:prstGeom>
          <a:solidFill>
            <a:srgbClr val="12243A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5840" y="5175504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approval requested: Discovery only. No migration, no deployment, no broad code rewrite.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SUGGESTION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0789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a controlled rebuild with three decision checkpoints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39903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proposal protects continuity while creating a stronger platform for future modules.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246120" cy="2194560"/>
          </a:xfrm>
          <a:prstGeom prst="roundRect">
            <a:avLst>
              <a:gd name="adj" fmla="val 5833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2377440"/>
            <a:ext cx="502920" cy="502920"/>
          </a:xfrm>
          <a:prstGeom prst="ellipse">
            <a:avLst/>
          </a:prstGeom>
          <a:solidFill>
            <a:srgbClr val="14D9D0"/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5054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discovery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inventory and adoption boundary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103120"/>
            <a:ext cx="3246120" cy="2194560"/>
          </a:xfrm>
          <a:prstGeom prst="roundRect">
            <a:avLst>
              <a:gd name="adj" fmla="val 5833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90872" y="237744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0872" y="25054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49240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foundation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Tenant, authorization, workflow contracts, test base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2103120"/>
            <a:ext cx="3246120" cy="2194560"/>
          </a:xfrm>
          <a:prstGeom prst="roundRect">
            <a:avLst>
              <a:gd name="adj" fmla="val 5833"/>
            </a:avLst>
          </a:prstGeom>
          <a:solidFill>
            <a:srgbClr val="0D1C2E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4192" y="2377440"/>
            <a:ext cx="502920" cy="502920"/>
          </a:xfrm>
          <a:prstGeom prst="ellipse">
            <a:avLst/>
          </a:prstGeom>
          <a:solidFill>
            <a:srgbClr val="62E6A8"/>
          </a:solidFill>
          <a:ln w="12700">
            <a:solidFill>
              <a:srgbClr val="62E6A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250545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052560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pilot rollout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58200" y="31546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CRM-to-certificate flow with UAT evidence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08760" y="4892040"/>
            <a:ext cx="9144000" cy="658368"/>
          </a:xfrm>
          <a:prstGeom prst="roundRect">
            <a:avLst>
              <a:gd name="adj" fmla="val 19444"/>
            </a:avLst>
          </a:prstGeom>
          <a:solidFill>
            <a:srgbClr val="12352F"/>
          </a:solidFill>
          <a:ln w="12700">
            <a:solidFill>
              <a:srgbClr val="62E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83080" y="510235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2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decision: proceed with Path C, reference + rebuild, starting with ONEALPHA-DISCOVERY-001.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182880"/>
            <a:ext cx="3840480" cy="3840480"/>
          </a:xfrm>
          <a:prstGeom prst="ellipse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4114800"/>
            <a:ext cx="2286000" cy="2286000"/>
          </a:xfrm>
          <a:prstGeom prst="ellipse">
            <a:avLst/>
          </a:prstGeom>
          <a:solidFill>
            <a:srgbClr val="14D9D0">
              <a:alpha val="15000"/>
            </a:srgbClr>
          </a:solidFill>
          <a:ln w="12700">
            <a:solidFill>
              <a:srgbClr val="14D9D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132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261872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the first gate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6126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9B8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read-only discovery sprint that turns Gauzy inspiration and OneAlpha reality into an approved build map.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5394960" cy="621792"/>
          </a:xfrm>
          <a:prstGeom prst="roundRect">
            <a:avLst>
              <a:gd name="adj" fmla="val 20588"/>
            </a:avLst>
          </a:prstGeom>
          <a:solidFill>
            <a:srgbClr val="12243A"/>
          </a:solidFill>
          <a:ln w="12700">
            <a:solidFill>
              <a:srgbClr val="2741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507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artifact: discovery report + ADR adoption boundary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5715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D9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ONEALPHA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5715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CRM. Audit. One operating core.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2849D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CBQA Global / Nexora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OneAlpha Rebuild: Gauzy as Reference</dc:title>
  <dc:subject>OneAlpha CRM and Audit Platform rebuild strategy</dc:subject>
  <dc:creator>OpenAI</dc:creator>
  <cp:lastModifiedBy>OpenAI</cp:lastModifiedBy>
  <cp:revision>1</cp:revision>
  <dcterms:created xsi:type="dcterms:W3CDTF">2026-09-13T18:27:10Z</dcterms:created>
  <dcterms:modified xsi:type="dcterms:W3CDTF">2026-09-13T18:27:10Z</dcterms:modified>
</cp:coreProperties>
</file>